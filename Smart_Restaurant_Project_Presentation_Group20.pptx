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629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Sunderdeep College of Management and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972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0">
                <a:solidFill>
                  <a:srgbClr val="FFFFFF"/>
                </a:solidFill>
                <a:latin typeface="Segoe UI"/>
              </a:defRPr>
            </a:pPr>
            <a:r>
              <a:t>🍽️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Smart Restaurant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57C00"/>
                </a:solidFill>
                <a:latin typeface="Segoe UI"/>
              </a:defRPr>
            </a:pPr>
            <a:r>
              <a:t>Full Stack Web 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474720"/>
            <a:ext cx="210312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A Modern Restaurant Management &amp; Online Ordering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Major Project Report  |  Group No. 20  |  2025-2026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5303520"/>
            <a:ext cx="7589520" cy="1188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  <a:latin typeface="Segoe UI"/>
              </a:defRPr>
            </a:pPr>
            <a:r>
              <a:t>Group Members: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7150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BD5E1"/>
                </a:solidFill>
                <a:latin typeface="Segoe UI"/>
              </a:defRPr>
            </a:pPr>
            <a:r>
              <a:t>Lakshay Gupta (230302010368)</a:t>
            </a:r>
            <a:br/>
            <a:r>
              <a:t>Harsh Saxena (230302010349)</a:t>
            </a:r>
            <a:br/>
            <a:r>
              <a:t>Manish Sharma (230302010376)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53949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7C00"/>
                </a:solidFill>
                <a:latin typeface="Segoe UI"/>
              </a:defRPr>
            </a:pPr>
            <a:r>
              <a:t>Under the Guidance of: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715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Ms. Laltesh Kumari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👥  Project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28800" y="1554480"/>
            <a:ext cx="8503920" cy="10058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03120" y="169164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  <a:latin typeface="Segoe UI"/>
              </a:defRPr>
            </a:pPr>
            <a:r>
              <a:t>🏛️  Sunderdeep College of Management and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0574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Major Project  |  Group No. 20  |  Academic Year 2025-2026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3017520"/>
            <a:ext cx="2926080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Lakshay Gupta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Roll No: 230302010368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617720"/>
            <a:ext cx="2926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7C00"/>
                </a:solidFill>
                <a:latin typeface="Segoe UI"/>
              </a:defRPr>
            </a:pPr>
            <a:r>
              <a:rPr dirty="0" smtClean="0"/>
              <a:t>B.</a:t>
            </a:r>
            <a:r>
              <a:rPr lang="en-US" dirty="0" smtClean="0"/>
              <a:t>C.A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4663440" y="3017520"/>
            <a:ext cx="2926080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Harsh Saxena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Roll No: 230302010349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617720"/>
            <a:ext cx="2926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7C00"/>
                </a:solidFill>
                <a:latin typeface="Segoe UI"/>
              </a:defRPr>
            </a:pPr>
            <a:r>
              <a:rPr dirty="0" smtClean="0"/>
              <a:t>B.</a:t>
            </a:r>
            <a:r>
              <a:rPr lang="en-US" dirty="0" smtClean="0"/>
              <a:t>C.A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7955280" y="3017520"/>
            <a:ext cx="2926080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840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Manish Sharma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297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Roll No: 230302010376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4617720"/>
            <a:ext cx="2926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57C00"/>
                </a:solidFill>
                <a:latin typeface="Segoe UI"/>
              </a:defRPr>
            </a:pPr>
            <a:r>
              <a:rPr dirty="0" smtClean="0"/>
              <a:t>B.</a:t>
            </a:r>
            <a:r>
              <a:rPr lang="en-US" dirty="0" smtClean="0"/>
              <a:t>C.A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3200400" y="5394960"/>
            <a:ext cx="5760720" cy="10058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83280" y="54864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Under the Guidance 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806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C9A7"/>
                </a:solidFill>
                <a:latin typeface="Segoe UI"/>
              </a:defRPr>
            </a:pPr>
            <a:r>
              <a:t>Ms. Laltesh Kumari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📋  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Introduction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40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611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Customer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983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Admin Panel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554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554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Advanced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402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240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Authentication &amp;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26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Database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11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API Endpoints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2976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Future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9834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7C00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Segoe UI"/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01 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  <a:latin typeface="Segoe UI"/>
              </a:defRPr>
            </a:pPr>
            <a:r>
              <a:t>What is Smart Restaurant?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A full-stack web application for modern restaurant management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Enables online food ordering, real-time order tracking, and table reservations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Provides a powerful admin dashboard for complete restaurant control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Built with the MERN Stack (MongoDB, Express, React, Node.js)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Mobile-responsive design with PWA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Traditional restaurants rely on manual order-taking which is slow &amp; error-prone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No real-time visibility for customers on order status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Table reservation management is often chaotic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Lack of digital loyalty programs leads to poor customer retention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Segoe UI"/>
              </a:defRPr>
            </a:pPr>
            <a:r>
              <a:t>▸  No centralized system for menu management, analytics, and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02 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Online Ordering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Allow customers to browse menu, add to cart, and place orders digitally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Admin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Provide restaurant owners a real-time dashboard with analytics &amp;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Order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Enable real-time tracking of order status from placement to delivery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Table Reservation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Let customers book tables online with date &amp; time selection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Secure 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Implement OTP-based email verification with JWT token authentication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Reviews &amp; Ratings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Allow customers to review and rate menu items for community feedback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Wallet &amp; Loyalty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Integrate digital wallet and loyalty points to boost retention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Referral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Encourage growth through a reward-based referral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03 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38328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  <a:latin typeface="Segoe UI"/>
              </a:defRPr>
            </a:pPr>
            <a:r>
              <a:t>⚛️  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React 19, Vite, Tailwind CSS</a:t>
            </a:r>
            <a:br/>
            <a:r>
              <a:t>Framer Motion, Recharts</a:t>
            </a:r>
            <a:br/>
            <a:r>
              <a:t>Lucide Icons, Axios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383280" cy="50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Segoe UI"/>
              </a:defRPr>
            </a:pPr>
            <a:r>
              <a:t>🖥️ 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31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Node.js, Express.js</a:t>
            </a:r>
            <a:br/>
            <a:r>
              <a:t>Mongoose ODM</a:t>
            </a:r>
            <a:br/>
            <a:r>
              <a:t>JWT, Bcrypt, Nodemailer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383280" cy="50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21040" y="1783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Segoe UI"/>
              </a:defRPr>
            </a:pPr>
            <a:r>
              <a:t>🗄️  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33172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MongoDB Atlas</a:t>
            </a:r>
            <a:br/>
            <a:r>
              <a:t>Cloud-hosted NoSQL DB</a:t>
            </a:r>
            <a:br/>
            <a:r>
              <a:t>Scalable &amp; flexible schema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338328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343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Segoe UI"/>
              </a:defRPr>
            </a:pPr>
            <a:r>
              <a:t>💳  Payment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8920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Razorpay SDK</a:t>
            </a:r>
            <a:br/>
            <a:r>
              <a:t>Secure payment gateway</a:t>
            </a:r>
            <a:br/>
            <a:r>
              <a:t>UPI, Cards, Netbanking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11480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4114800"/>
            <a:ext cx="3383280" cy="508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4343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Segoe UI"/>
              </a:defRPr>
            </a:pPr>
            <a:r>
              <a:t>📧  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8920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Nodemailer</a:t>
            </a:r>
            <a:br/>
            <a:r>
              <a:t>Gmail SMTP</a:t>
            </a:r>
            <a:br/>
            <a:r>
              <a:t>OTP verification emails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114800"/>
            <a:ext cx="3383280" cy="2286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46720" y="4114800"/>
            <a:ext cx="338328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4343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72B6"/>
                </a:solidFill>
                <a:latin typeface="Segoe UI"/>
              </a:defRPr>
            </a:pPr>
            <a:r>
              <a:t>🚀  Deployment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8920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Segoe UI"/>
              </a:defRPr>
            </a:pPr>
            <a:r>
              <a:t>Vercel (Frontend)</a:t>
            </a:r>
            <a:br/>
            <a:r>
              <a:t>Render / Railway (Backend)</a:t>
            </a:r>
            <a:br/>
            <a:r>
              <a:t>MongoDB Atlas (DB)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04 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1188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63500" cy="11887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17830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57C00"/>
                </a:solidFill>
                <a:latin typeface="Segoe UI"/>
              </a:defRPr>
            </a:pPr>
            <a:r>
              <a:t>🌐  PRESENTATION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React 19 + Vite + Tailwind CSS</a:t>
            </a:r>
            <a:br/>
            <a:r>
              <a:t>Customer UI  |  Admin Dashboard  |  PWA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108960"/>
            <a:ext cx="9418320" cy="1188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3108960"/>
            <a:ext cx="63500" cy="11887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3246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38BDF8"/>
                </a:solidFill>
                <a:latin typeface="Segoe UI"/>
              </a:defRPr>
            </a:pPr>
            <a:r>
              <a:t>⚙️  APPLICATION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657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Node.js + Express.js</a:t>
            </a:r>
            <a:br/>
            <a:r>
              <a:t>REST APIs  |  JWT Auth  |  Business Logic  |  Middleware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572000"/>
            <a:ext cx="9418320" cy="118872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71600" y="4572000"/>
            <a:ext cx="63500" cy="1188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47091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4ADE80"/>
                </a:solidFill>
                <a:latin typeface="Segoe UI"/>
              </a:defRPr>
            </a:pPr>
            <a:r>
              <a:t>🗄️  DATA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206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BD5E1"/>
                </a:solidFill>
                <a:latin typeface="Segoe UI"/>
              </a:defRPr>
            </a:pPr>
            <a:r>
              <a:t>MongoDB Atlas</a:t>
            </a:r>
            <a:br/>
            <a:r>
              <a:t>Users  |  Orders  |  Menu  |  Reviews  |  Reservations  |  Wallet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880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⬇  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3434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⬇  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371600"/>
            <a:ext cx="2743200" cy="100584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0" y="1417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Design Pattern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6916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MVC Architecture</a:t>
            </a:r>
            <a:br/>
            <a:r>
              <a:t>RESTful API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05  Customer-Facing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Home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Hero section, signature dishes,</a:t>
            </a:r>
            <a:br/>
            <a:r>
              <a:t>stats counters, testimonials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Menu Browsing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Category filtering, search,</a:t>
            </a:r>
            <a:br/>
            <a:r>
              <a:t>price &amp; rating sort, dietary filters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Cart &amp; Checkout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Add/remove items, quantity</a:t>
            </a:r>
            <a:br/>
            <a:r>
              <a:t>management, cart drawer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Order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Real-time status timeline:</a:t>
            </a:r>
            <a:br/>
            <a:r>
              <a:t>Pending → Preparing → Delivered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Table Booking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Reserve tables with date,</a:t>
            </a:r>
            <a:br/>
            <a:r>
              <a:t>time &amp; guest count selection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User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Account details, order history,</a:t>
            </a:r>
            <a:br/>
            <a:r>
              <a:t>favourites, wallet balance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Reviews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Rate &amp; review menu items,</a:t>
            </a:r>
            <a:br/>
            <a:r>
              <a:t>helpful votes, edit/delete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Flash Deals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Time-limited offers with</a:t>
            </a:r>
            <a:br/>
            <a:r>
              <a:t>countdown timers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06  Admin Panel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Revenue charts, stats cards,</a:t>
            </a:r>
            <a:br/>
            <a:r>
              <a:t>recent orders overview,</a:t>
            </a:r>
            <a:br/>
            <a:r>
              <a:t>registered user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Order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View all orders, update status</a:t>
            </a:r>
            <a:br/>
            <a:r>
              <a:t>(Pending → Accepted →</a:t>
            </a:r>
            <a:br/>
            <a:r>
              <a:t>Preparing → Ready → Delivered)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Menu CRUD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Add/edit/delete menu items</a:t>
            </a:r>
            <a:br/>
            <a:r>
              <a:t>with images, pricing,</a:t>
            </a:r>
            <a:br/>
            <a:r>
              <a:t>categories, availability toggle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55448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09760" y="17830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28600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Reservations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7432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View &amp; manage table bookings</a:t>
            </a:r>
            <a:br/>
            <a:r>
              <a:t>Approve / Decline requests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User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View users, block/unblock,</a:t>
            </a:r>
            <a:br/>
            <a:r>
              <a:t>view user order history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616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⚙️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Settings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Restaurant info, tax config,</a:t>
            </a:r>
            <a:br/>
            <a:r>
              <a:t>operating hours, delivery</a:t>
            </a:r>
            <a:br/>
            <a:r>
              <a:t>charges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🏷️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Coupons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Create &amp; manage discount</a:t>
            </a:r>
            <a:br/>
            <a:r>
              <a:t>coupons and promo codes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4023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509760" y="42519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754880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Chat Support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521208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Real-time customer support</a:t>
            </a:r>
            <a:br/>
            <a:r>
              <a:t>chat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07  Advanced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Digital Wallet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Prepaid balance system with</a:t>
            </a:r>
            <a:br/>
            <a:r>
              <a:t>add money, deduct on order,</a:t>
            </a:r>
            <a:br/>
            <a:r>
              <a:t>transaction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Loyalty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Earn points on every order</a:t>
            </a:r>
            <a:br/>
            <a:r>
              <a:t>Tiers: Bronze → Silver →</a:t>
            </a:r>
            <a:br/>
            <a:r>
              <a:t>Gold → Platinum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Referral Program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Unique referral codes, ₹100</a:t>
            </a:r>
            <a:br/>
            <a:r>
              <a:t>bonus for both referrer &amp;</a:t>
            </a:r>
            <a:br/>
            <a:r>
              <a:t>referee, social sharing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Combo Deals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Bundled meal packages with</a:t>
            </a:r>
            <a:br/>
            <a:r>
              <a:t>discount pricing, validity</a:t>
            </a:r>
            <a:br/>
            <a:r>
              <a:t>period, admin-managed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Advanced Filters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Filter by category, price,</a:t>
            </a:r>
            <a:br/>
            <a:r>
              <a:t>rating, dietary (Vegan/GF),</a:t>
            </a:r>
            <a:br/>
            <a:r>
              <a:t>spice level, sort options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Invoice Download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Auto-generated PDF invoices</a:t>
            </a:r>
            <a:br/>
            <a:r>
              <a:t>for completed orders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08  Authentication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7548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7C00"/>
                </a:solidFill>
                <a:latin typeface="Segoe UI"/>
              </a:defRPr>
            </a:pPr>
            <a:r>
              <a:t>🔐  Authentication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1.  User enters email &amp; password to register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2.  6-digit OTP sent via Nodemailer (Gmail SMTP)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3.  User verifies OTP within time limit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4.  JWT token issued on successful verification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5.  Token stored client-side for session management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6.  Protected routes validate token via middleware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7.  Role-based access: User / Admin / Blocked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7548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A7"/>
                </a:solidFill>
                <a:latin typeface="Segoe UI"/>
              </a:defRPr>
            </a:pPr>
            <a:r>
              <a:t>🛡️  Security Measures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Bcrypt password hashing (salted)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JWT token-based authentication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OTP expiry &amp; rate limiting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Role-based access control (RBAC)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Protected API routes via middleware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CORS configuration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Environment variables for secrets</a:t>
            </a:r>
          </a:p>
          <a:p>
            <a:pPr>
              <a:spcAft>
                <a:spcPts val="1000"/>
              </a:spcAft>
              <a:defRPr sz="1500">
                <a:solidFill>
                  <a:srgbClr val="CBD5E1"/>
                </a:solidFill>
                <a:latin typeface="Segoe UI"/>
              </a:defRPr>
            </a:pPr>
            <a:r>
              <a:t>▸  Input validation &amp; sanitization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09  Database Design (MongoDB)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name, email, password, phone,</a:t>
            </a:r>
            <a:br/>
            <a:r>
              <a:t>role, loyaltyPoints, walletBalance,</a:t>
            </a:r>
            <a:br/>
            <a:r>
              <a:t>referralCode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1188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9202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items[], totalAmount,</a:t>
            </a:r>
            <a:br/>
            <a:r>
              <a:t>status, statusHistory[],</a:t>
            </a:r>
            <a:br/>
            <a:r>
              <a:t>deliveryAddress, paymentMethod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Menu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name, description, price,</a:t>
            </a:r>
            <a:br/>
            <a:r>
              <a:t>category, image, avgRating,</a:t>
            </a:r>
            <a:br/>
            <a:r>
              <a:t>isVegan, spiceLevel, available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72600" y="1554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92024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menuItemId, rating,</a:t>
            </a:r>
            <a:br/>
            <a:r>
              <a:t>comment, helpfulCount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Reservation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date, time,</a:t>
            </a:r>
            <a:br/>
            <a:r>
              <a:t>guestCount, tableId, status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2900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11880" y="3246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Wallet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6118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balance,</a:t>
            </a:r>
            <a:br/>
            <a:r>
              <a:t>transactions[], type, amount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246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LoyaltyPoints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6118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points, tier,</a:t>
            </a:r>
            <a:br/>
            <a:r>
              <a:t>history[], earnedFrom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2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372600" y="32461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Referral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61188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referrerId, refereeId,</a:t>
            </a:r>
            <a:br/>
            <a:r>
              <a:t>referralCode, bonusAmount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937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Coupon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0352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code, discount, type,</a:t>
            </a:r>
            <a:br/>
            <a:r>
              <a:t>minOrder, validUntil, usageLimit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11880" y="4937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FlashDeal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530352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menuItemId, discount,</a:t>
            </a:r>
            <a:br/>
            <a:r>
              <a:t>startTime, endTime, active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4937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Combo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30352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name, items[], originalPrice,</a:t>
            </a:r>
            <a:br/>
            <a:r>
              <a:t>comboPrice, discount, validity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2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72600" y="49377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7C00"/>
                </a:solidFill>
                <a:latin typeface="Segoe UI"/>
              </a:defRPr>
            </a:pPr>
            <a:r>
              <a:t>📄  Feedback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5303520"/>
            <a:ext cx="2331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userId, message,</a:t>
            </a:r>
            <a:br/>
            <a:r>
              <a:t>rating, category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10  API Endpoints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/api/auth/*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Register, Login,</a:t>
            </a:r>
            <a:br/>
            <a:r>
              <a:t>OTP verify, Profile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11880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Menu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8745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/api/menu/*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2402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Browse, Filter,</a:t>
            </a:r>
            <a:br/>
            <a:r>
              <a:t>CRUD (admin)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/api/orders/*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02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Place, Track,</a:t>
            </a:r>
            <a:br/>
            <a:r>
              <a:t>History, 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46304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72600" y="155448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Reviews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8745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/api/reviews/*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24028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Create, Read,</a:t>
            </a:r>
            <a:br/>
            <a:r>
              <a:t>Update, Delete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2461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Reservations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5661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/api/reservations/*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931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Book, Manage,</a:t>
            </a:r>
            <a:br/>
            <a:r>
              <a:t>Approve/Decline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11880" y="32461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Wallet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35661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/api/wallet/*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3931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Balance, Add money,</a:t>
            </a:r>
            <a:br/>
            <a:r>
              <a:t>Transaction history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32461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Loyalty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5661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/api/loyalty/*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931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Points, Tiers,</a:t>
            </a:r>
            <a:br/>
            <a:r>
              <a:t>Redeem, History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315468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72600" y="32461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Referral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35661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/api/referral/*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931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Code, Apply,</a:t>
            </a:r>
            <a:br/>
            <a:r>
              <a:t>Stats, Bonuses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4937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Combos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257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/api/combos/*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6235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List, Details,</a:t>
            </a:r>
            <a:br/>
            <a:r>
              <a:t>CRUD (admin)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2900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11880" y="4937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Coupons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5257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/api/coupons/*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11880" y="56235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Validate, Apply,</a:t>
            </a:r>
            <a:br/>
            <a:r>
              <a:t>CRUD (admin)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0936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92240" y="4937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Payment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257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/api/payment/*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6235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Razorpay create,</a:t>
            </a:r>
            <a:br/>
            <a:r>
              <a:t>Verify payment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89720" y="4846320"/>
            <a:ext cx="2697480" cy="150876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72600" y="4937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A7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600" y="525780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7C00"/>
                </a:solidFill>
                <a:latin typeface="Segoe UI"/>
              </a:defRPr>
            </a:pPr>
            <a:r>
              <a:t>/api/admin/*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72600" y="562356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Dashboard, Users,</a:t>
            </a:r>
            <a:br/>
            <a:r>
              <a:t>Analytics, Settings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11 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AI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Machine learning based personalized</a:t>
            </a:r>
            <a:br/>
            <a:r>
              <a:t>food recommendations using order history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Mobile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Native Android &amp; iOS apps using</a:t>
            </a:r>
            <a:br/>
            <a:r>
              <a:t>React Native for better mobile 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Push Notifications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74320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Real-time browser &amp; mobile push</a:t>
            </a:r>
            <a:br/>
            <a:r>
              <a:t>notifications for order updates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Multi-language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Support for Hindi, English and</a:t>
            </a:r>
            <a:br/>
            <a:r>
              <a:t>other regional languages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Advanced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Heatmaps, customer behavior</a:t>
            </a:r>
            <a:br/>
            <a:r>
              <a:t>analysis, demand forecasting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114800"/>
            <a:ext cx="33832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43434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7C00"/>
                </a:solidFill>
                <a:latin typeface="Segoe UI"/>
              </a:defRPr>
            </a:pPr>
            <a:r>
              <a:t>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846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Segoe UI"/>
              </a:defRPr>
            </a:pPr>
            <a:r>
              <a:t>Delivery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530352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Real-time GPS tracking of</a:t>
            </a:r>
            <a:br/>
            <a:r>
              <a:t>delivery riders with map 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315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12 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371600"/>
            <a:ext cx="210312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8503920" cy="32004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94560" y="210312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CBD5E1"/>
                </a:solidFill>
                <a:latin typeface="Segoe UI"/>
              </a:defRPr>
            </a:pPr>
            <a:r>
              <a:t>Smart Restaurant is a comprehensive full-stack web application that digitizes the entire restaurant experience — from online menu browsing and ordering to real-time order tracking and table reservations.</a:t>
            </a:r>
            <a:br/>
            <a:r>
              <a:t/>
            </a:r>
            <a:br/>
            <a:r>
              <a:t>The project demonstrates proficiency in modern web technologies including React, Node.js, Express, MongoDB, and integrations like Razorpay payments and email OTP verification.</a:t>
            </a:r>
            <a:br/>
            <a:r>
              <a:t/>
            </a:r>
            <a:br/>
            <a:r>
              <a:t>With features like a loyalty program, digital wallet, referral system, combo deals, and a complete admin panel — it provides a production-ready solution for restaurant digitization.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30352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20+ API Routes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530352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16+ DB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530352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9496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MERN Stack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530352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Razorpay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0" y="5303520"/>
            <a:ext cx="1737360" cy="640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0" y="53949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PWA Ready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675120"/>
            <a:ext cx="12191695" cy="762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1887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0">
                <a:solidFill>
                  <a:srgbClr val="FFFFFF"/>
                </a:solidFill>
                <a:latin typeface="Segoe UI"/>
              </a:defRPr>
            </a:pPr>
            <a:r>
              <a:t>🍽️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9456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00400"/>
            <a:ext cx="2103120" cy="508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BD5E1"/>
                </a:solidFill>
                <a:latin typeface="Segoe UI"/>
              </a:defRPr>
            </a:pPr>
            <a:r>
              <a:t>Questions &amp; Feedback Welcome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389120"/>
            <a:ext cx="6675120" cy="201168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45262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7C00"/>
                </a:solidFill>
                <a:latin typeface="Segoe UI"/>
              </a:defRPr>
            </a:pPr>
            <a:r>
              <a:t>Group No. 20  |  Sunderdeep College of Management and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493776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Lakshay Gupta  •  Harsh Saxena  •  Manish Sharma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534924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Under the Guidance of Ms. Laltesh Kumari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76072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github.com/lakshay3452/smart-restaurant-me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1058</Words>
  <Application>Microsoft Office PowerPoint</Application>
  <PresentationFormat>Custom</PresentationFormat>
  <Paragraphs>296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dc:description>generated using python-pptx</dc:description>
  <cp:lastModifiedBy>dell</cp:lastModifiedBy>
  <cp:revision>3</cp:revision>
  <dcterms:created xsi:type="dcterms:W3CDTF">2013-01-27T09:14:16Z</dcterms:created>
  <dcterms:modified xsi:type="dcterms:W3CDTF">2026-04-07T05:15:07Z</dcterms:modified>
</cp:coreProperties>
</file>